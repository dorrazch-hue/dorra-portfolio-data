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couverture — présenter le projet et son contexte général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Contexte : Puls-Events, le POC réalisé il y a un mois, et les 4 objectifs du MVP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besoins identifiés avec Jérémy : mémoire, géoloc, recherche web temps réel, monitoring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Choix GCP : Vertex AI tout-en-un, intégration HF native, Cloud Run serverless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 couches : interface, RAG, modules complémentaires (mémoire + géoloc + smolagents), monitoring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Backlog MoSCoW : 4 Must (indispensables), 2 Should, 1 Could (post-MVP)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Build ~3200 EUR (developpement alternant inclus) · OPEX ~108 EUR/mois pour 1000 users · monter à ~800 EUR/mois pour 10x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 phases sur 12 semaines · 4 jalons de validation formels avec Jeremy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Rappeler les 4 points cles et partager le lien GitHub du portfolio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hyperlink" Target="https://github.com/dorrazch-hue/dorra-portfolio-data" TargetMode="Externa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6217920" y="-1645920"/>
            <a:ext cx="4389120" cy="4389120"/>
          </a:xfrm>
          <a:prstGeom prst="ellipse">
            <a:avLst/>
          </a:prstGeom>
          <a:solidFill>
            <a:srgbClr val="182864">
              <a:alpha val="45000"/>
            </a:srgbClr>
          </a:solidFill>
          <a:ln w="12700">
            <a:solidFill>
              <a:srgbClr val="18286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389888"/>
            <a:ext cx="7315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50" kern="0" dirty="0">
                <a:solidFill>
                  <a:srgbClr val="6B8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PULS-EVENTS  ·  ÉTUDE DE DESIGN MVP  ·  AOÛT 2026</a:t>
            </a:r>
            <a:endParaRPr lang="en-US" sz="850" dirty="0"/>
          </a:p>
        </p:txBody>
      </p:sp>
      <p:sp>
        <p:nvSpPr>
          <p:cNvPr id="5" name="Text 3"/>
          <p:cNvSpPr txBox="1"/>
          <p:nvPr/>
        </p:nvSpPr>
        <p:spPr>
          <a:xfrm>
            <a:off x="685800" y="1673352"/>
            <a:ext cx="6858000" cy="7132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 POC au MVP :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685800" y="2395728"/>
            <a:ext cx="68580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AABDE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Chatbot RAG — Puls-Events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685800" y="3063240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5E78A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Rapport de gestion de projet · Data Engineer en alternance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685800" y="4709160"/>
            <a:ext cx="82296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364E7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Responsable : Jérémy  ·  12 semaines  ·  Stack : GCP · LangChain · Vertex AI · ChromaDB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DU PROJET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Puls-Events · Du POC au MVP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393192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280160"/>
            <a:ext cx="35204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A5C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Puls-Events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658368" y="1819656"/>
            <a:ext cx="137160" cy="137160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96112" y="176479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Plateforme de découverte d'événements culturels en temps réel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58368" y="2322576"/>
            <a:ext cx="137160" cy="137160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96112" y="226771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Données collectées via Open Agenda et d'autres sources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658368" y="2825496"/>
            <a:ext cx="137160" cy="137160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96112" y="2770632"/>
            <a:ext cx="32918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Personnalisation : lieu, période, thématiques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621792" y="2971800"/>
            <a:ext cx="3602736" cy="749808"/>
          </a:xfrm>
          <a:prstGeom prst="roundRect">
            <a:avLst>
              <a:gd name="adj" fmla="val 8537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77240" y="3044952"/>
            <a:ext cx="32918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POC validé il y a 1 mois</a:t>
            </a:r>
            <a:endParaRPr lang="en-US" sz="1100" dirty="0"/>
          </a:p>
        </p:txBody>
      </p:sp>
      <p:sp>
        <p:nvSpPr>
          <p:cNvPr id="15" name="Text 13"/>
          <p:cNvSpPr txBox="1"/>
          <p:nvPr/>
        </p:nvSpPr>
        <p:spPr>
          <a:xfrm>
            <a:off x="777240" y="32918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Moteur sémantique RAG fonctionnel · Équipes produit et marketing convaincues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0" y="1143000"/>
            <a:ext cx="4114800" cy="3657600"/>
          </a:xfrm>
          <a:prstGeom prst="roundRect">
            <a:avLst>
              <a:gd name="adj" fmla="val 175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4754880" y="12801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E8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 objectifs du MVP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4754880" y="1856232"/>
            <a:ext cx="164592" cy="164592"/>
          </a:xfrm>
          <a:prstGeom prst="ellipse">
            <a:avLst/>
          </a:prstGeom>
          <a:solidFill>
            <a:srgbClr val="E87825"/>
          </a:solidFill>
          <a:ln w="12700">
            <a:solidFill>
              <a:srgbClr val="E87825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047488" y="1783080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conversationnelle</a:t>
            </a:r>
            <a:endParaRPr lang="en-US" sz="1100" dirty="0"/>
          </a:p>
        </p:txBody>
      </p:sp>
      <p:sp>
        <p:nvSpPr>
          <p:cNvPr id="20" name="Text 18"/>
          <p:cNvSpPr txBox="1"/>
          <p:nvPr/>
        </p:nvSpPr>
        <p:spPr>
          <a:xfrm>
            <a:off x="5047488" y="2039112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Retenir l'historique pour personnaliser les échanges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754880" y="2514600"/>
            <a:ext cx="164592" cy="164592"/>
          </a:xfrm>
          <a:prstGeom prst="ellipse">
            <a:avLst/>
          </a:prstGeom>
          <a:solidFill>
            <a:srgbClr val="E87825"/>
          </a:solidFill>
          <a:ln w="12700">
            <a:solidFill>
              <a:srgbClr val="E87825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047488" y="244144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Contexte géographique</a:t>
            </a:r>
            <a:endParaRPr lang="en-US" sz="1100" dirty="0"/>
          </a:p>
        </p:txBody>
      </p:sp>
      <p:sp>
        <p:nvSpPr>
          <p:cNvPr id="23" name="Text 21"/>
          <p:cNvSpPr txBox="1"/>
          <p:nvPr/>
        </p:nvSpPr>
        <p:spPr>
          <a:xfrm>
            <a:off x="5047488" y="2697480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Adapter les réponses à la localisation de l'utilisateur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754880" y="3172968"/>
            <a:ext cx="164592" cy="164592"/>
          </a:xfrm>
          <a:prstGeom prst="ellipse">
            <a:avLst/>
          </a:prstGeom>
          <a:solidFill>
            <a:srgbClr val="E87825"/>
          </a:solidFill>
          <a:ln w="12700">
            <a:solidFill>
              <a:srgbClr val="E87825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047488" y="3099816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 web temps réel</a:t>
            </a:r>
            <a:endParaRPr lang="en-US" sz="1100" dirty="0"/>
          </a:p>
        </p:txBody>
      </p:sp>
      <p:sp>
        <p:nvSpPr>
          <p:cNvPr id="26" name="Text 24"/>
          <p:cNvSpPr txBox="1"/>
          <p:nvPr/>
        </p:nvSpPr>
        <p:spPr>
          <a:xfrm>
            <a:off x="5047488" y="3355848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smolagents (Hugging Face)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754880" y="3831336"/>
            <a:ext cx="164592" cy="164592"/>
          </a:xfrm>
          <a:prstGeom prst="ellipse">
            <a:avLst/>
          </a:prstGeom>
          <a:solidFill>
            <a:srgbClr val="E87825"/>
          </a:solidFill>
          <a:ln w="12700">
            <a:solidFill>
              <a:srgbClr val="E87825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5047488" y="3758184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 de performance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5047488" y="4014216"/>
            <a:ext cx="34747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Qualité, latence et satisfaction utilisateur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1 · ANALYSE DES BESOINS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4 défis techniques du MVP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4087368" cy="1627632"/>
          </a:xfrm>
          <a:prstGeom prst="roundRect">
            <a:avLst>
              <a:gd name="adj" fmla="val 3933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58368" y="13350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2A5C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Mémoire conversationnelle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658368" y="1682496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Retenir l'historique des échanges pour personnaliser les réponses au fil du temps, même entre plusieurs sessions.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773168" y="1170432"/>
            <a:ext cx="4087368" cy="1627632"/>
          </a:xfrm>
          <a:prstGeom prst="roundRect">
            <a:avLst>
              <a:gd name="adj" fmla="val 3933"/>
            </a:avLst>
          </a:prstGeom>
          <a:solidFill>
            <a:srgbClr val="FDF0E8"/>
          </a:solidFill>
          <a:ln w="9525">
            <a:solidFill>
              <a:srgbClr val="F5C4A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974336" y="1335024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8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Contexte géographique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4974336" y="1682496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Filtrer et adapter les réponses du chatbot selon la localisation de l'utilisateur (ville, région).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457200" y="2944368"/>
            <a:ext cx="4087368" cy="1627632"/>
          </a:xfrm>
          <a:prstGeom prst="roundRect">
            <a:avLst>
              <a:gd name="adj" fmla="val 3933"/>
            </a:avLst>
          </a:prstGeom>
          <a:solidFill>
            <a:srgbClr val="E6F5EF"/>
          </a:solidFill>
          <a:ln w="9525">
            <a:solidFill>
              <a:srgbClr val="9FD4BE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58368" y="3108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7A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Recherche web temps réel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345643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Enrichir les réponses via un agent smolagents (Hugging Face) lorsque la base vectorielle ne suffit pas.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4773168" y="2944368"/>
            <a:ext cx="4087368" cy="1627632"/>
          </a:xfrm>
          <a:prstGeom prst="roundRect">
            <a:avLst>
              <a:gd name="adj" fmla="val 3933"/>
            </a:avLst>
          </a:prstGeom>
          <a:solidFill>
            <a:srgbClr val="FEF3C7"/>
          </a:solidFill>
          <a:ln w="9525">
            <a:solidFill>
              <a:srgbClr val="F0D085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4974336" y="310896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B45309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 de performance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4974336" y="3456432"/>
            <a:ext cx="365760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Mesurer en continu la qualité des réponses, la latence et la satisfaction utilisateur via Langfuse.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2 · CHOIX CLOUD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GCP — Solution retenue pour le MVP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43000"/>
            <a:ext cx="2697480" cy="29260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26187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AWS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673352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Bedrock · SageMaker</a:t>
            </a:r>
            <a:endParaRPr lang="en-US" sz="9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0116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VECTORIELLE</a:t>
            </a:r>
            <a:endParaRPr lang="en-US" sz="750" dirty="0"/>
          </a:p>
        </p:txBody>
      </p:sp>
      <p:sp>
        <p:nvSpPr>
          <p:cNvPr id="9" name="Text 7"/>
          <p:cNvSpPr txBox="1"/>
          <p:nvPr/>
        </p:nvSpPr>
        <p:spPr>
          <a:xfrm>
            <a:off x="621792" y="21945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OpenSearch</a:t>
            </a:r>
            <a:endParaRPr lang="en-US" sz="1050" dirty="0"/>
          </a:p>
        </p:txBody>
      </p:sp>
      <p:sp>
        <p:nvSpPr>
          <p:cNvPr id="10" name="Text 8"/>
          <p:cNvSpPr txBox="1"/>
          <p:nvPr/>
        </p:nvSpPr>
        <p:spPr>
          <a:xfrm>
            <a:off x="621792" y="2514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750" dirty="0"/>
          </a:p>
        </p:txBody>
      </p:sp>
      <p:sp>
        <p:nvSpPr>
          <p:cNvPr id="11" name="Text 9"/>
          <p:cNvSpPr txBox="1"/>
          <p:nvPr/>
        </p:nvSpPr>
        <p:spPr>
          <a:xfrm>
            <a:off x="621792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621792" y="3017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MVP</a:t>
            </a:r>
            <a:endParaRPr lang="en-US" sz="750" dirty="0"/>
          </a:p>
        </p:txBody>
      </p:sp>
      <p:sp>
        <p:nvSpPr>
          <p:cNvPr id="13" name="Text 11"/>
          <p:cNvSpPr txBox="1"/>
          <p:nvPr/>
        </p:nvSpPr>
        <p:spPr>
          <a:xfrm>
            <a:off x="621792" y="3200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Moyen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3310128" y="1143000"/>
            <a:ext cx="2697480" cy="2926080"/>
          </a:xfrm>
          <a:prstGeom prst="roundRect">
            <a:avLst>
              <a:gd name="adj" fmla="val 2373"/>
            </a:avLst>
          </a:prstGeom>
          <a:solidFill>
            <a:srgbClr val="EEF2FD"/>
          </a:solidFill>
          <a:ln w="9525">
            <a:solidFill>
              <a:srgbClr val="2A5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3474720" y="126187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2A5C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GCP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474720" y="1673352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· Gemini</a:t>
            </a:r>
            <a:endParaRPr lang="en-US" sz="950" dirty="0"/>
          </a:p>
        </p:txBody>
      </p:sp>
      <p:sp>
        <p:nvSpPr>
          <p:cNvPr id="17" name="Text 15"/>
          <p:cNvSpPr txBox="1"/>
          <p:nvPr/>
        </p:nvSpPr>
        <p:spPr>
          <a:xfrm>
            <a:off x="3474720" y="20116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VECTORIELLE</a:t>
            </a:r>
            <a:endParaRPr lang="en-US" sz="750" dirty="0"/>
          </a:p>
        </p:txBody>
      </p:sp>
      <p:sp>
        <p:nvSpPr>
          <p:cNvPr id="18" name="Text 16"/>
          <p:cNvSpPr txBox="1"/>
          <p:nvPr/>
        </p:nvSpPr>
        <p:spPr>
          <a:xfrm>
            <a:off x="3474720" y="21945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Vector Search</a:t>
            </a:r>
            <a:endParaRPr lang="en-US" sz="1050" dirty="0"/>
          </a:p>
        </p:txBody>
      </p:sp>
      <p:sp>
        <p:nvSpPr>
          <p:cNvPr id="19" name="Text 17"/>
          <p:cNvSpPr txBox="1"/>
          <p:nvPr/>
        </p:nvSpPr>
        <p:spPr>
          <a:xfrm>
            <a:off x="3474720" y="2514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750" dirty="0"/>
          </a:p>
        </p:txBody>
      </p:sp>
      <p:sp>
        <p:nvSpPr>
          <p:cNvPr id="20" name="Text 18"/>
          <p:cNvSpPr txBox="1"/>
          <p:nvPr/>
        </p:nvSpPr>
        <p:spPr>
          <a:xfrm>
            <a:off x="3474720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Excellente</a:t>
            </a:r>
            <a:endParaRPr lang="en-US" sz="1050" dirty="0"/>
          </a:p>
        </p:txBody>
      </p:sp>
      <p:sp>
        <p:nvSpPr>
          <p:cNvPr id="21" name="Text 19"/>
          <p:cNvSpPr txBox="1"/>
          <p:nvPr/>
        </p:nvSpPr>
        <p:spPr>
          <a:xfrm>
            <a:off x="3474720" y="3017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MVP</a:t>
            </a:r>
            <a:endParaRPr lang="en-US" sz="750" dirty="0"/>
          </a:p>
        </p:txBody>
      </p:sp>
      <p:sp>
        <p:nvSpPr>
          <p:cNvPr id="22" name="Text 20"/>
          <p:cNvSpPr txBox="1"/>
          <p:nvPr/>
        </p:nvSpPr>
        <p:spPr>
          <a:xfrm>
            <a:off x="3474720" y="3200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Compétitif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3474720" y="3657600"/>
            <a:ext cx="2359152" cy="274320"/>
          </a:xfrm>
          <a:prstGeom prst="roundRect">
            <a:avLst>
              <a:gd name="adj" fmla="val 23333"/>
            </a:avLst>
          </a:prstGeom>
          <a:solidFill>
            <a:srgbClr val="2A5CE6"/>
          </a:solidFill>
          <a:ln w="9525">
            <a:solidFill>
              <a:srgbClr val="2A5CE6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3474720" y="3675888"/>
            <a:ext cx="235915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Recommande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6163056" y="1143000"/>
            <a:ext cx="2697480" cy="2926080"/>
          </a:xfrm>
          <a:prstGeom prst="roundRect">
            <a:avLst>
              <a:gd name="adj" fmla="val 2373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327648" y="1261872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Azure</a:t>
            </a:r>
            <a:endParaRPr lang="en-US" sz="2400" dirty="0"/>
          </a:p>
        </p:txBody>
      </p:sp>
      <p:sp>
        <p:nvSpPr>
          <p:cNvPr id="27" name="Text 25"/>
          <p:cNvSpPr txBox="1"/>
          <p:nvPr/>
        </p:nvSpPr>
        <p:spPr>
          <a:xfrm>
            <a:off x="6327648" y="1673352"/>
            <a:ext cx="2377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OpenAI</a:t>
            </a:r>
            <a:endParaRPr lang="en-US" sz="950" dirty="0"/>
          </a:p>
        </p:txBody>
      </p:sp>
      <p:sp>
        <p:nvSpPr>
          <p:cNvPr id="28" name="Text 26"/>
          <p:cNvSpPr txBox="1"/>
          <p:nvPr/>
        </p:nvSpPr>
        <p:spPr>
          <a:xfrm>
            <a:off x="6327648" y="201168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VECTORIELLE</a:t>
            </a:r>
            <a:endParaRPr lang="en-US" sz="750" dirty="0"/>
          </a:p>
        </p:txBody>
      </p:sp>
      <p:sp>
        <p:nvSpPr>
          <p:cNvPr id="29" name="Text 27"/>
          <p:cNvSpPr txBox="1"/>
          <p:nvPr/>
        </p:nvSpPr>
        <p:spPr>
          <a:xfrm>
            <a:off x="6327648" y="219456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AI Search</a:t>
            </a:r>
            <a:endParaRPr lang="en-US" sz="1050" dirty="0"/>
          </a:p>
        </p:txBody>
      </p:sp>
      <p:sp>
        <p:nvSpPr>
          <p:cNvPr id="30" name="Text 28"/>
          <p:cNvSpPr txBox="1"/>
          <p:nvPr/>
        </p:nvSpPr>
        <p:spPr>
          <a:xfrm>
            <a:off x="6327648" y="251460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DÉPLOIEMENT</a:t>
            </a:r>
            <a:endParaRPr lang="en-US" sz="750" dirty="0"/>
          </a:p>
        </p:txBody>
      </p:sp>
      <p:sp>
        <p:nvSpPr>
          <p:cNvPr id="31" name="Text 29"/>
          <p:cNvSpPr txBox="1"/>
          <p:nvPr/>
        </p:nvSpPr>
        <p:spPr>
          <a:xfrm>
            <a:off x="6327648" y="269748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Bonne</a:t>
            </a:r>
            <a:endParaRPr lang="en-US" sz="1050" dirty="0"/>
          </a:p>
        </p:txBody>
      </p:sp>
      <p:sp>
        <p:nvSpPr>
          <p:cNvPr id="32" name="Text 30"/>
          <p:cNvSpPr txBox="1"/>
          <p:nvPr/>
        </p:nvSpPr>
        <p:spPr>
          <a:xfrm>
            <a:off x="6327648" y="3017520"/>
            <a:ext cx="23774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spc="5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MVP</a:t>
            </a:r>
            <a:endParaRPr lang="en-US" sz="750" dirty="0"/>
          </a:p>
        </p:txBody>
      </p:sp>
      <p:sp>
        <p:nvSpPr>
          <p:cNvPr id="33" name="Text 31"/>
          <p:cNvSpPr txBox="1"/>
          <p:nvPr/>
        </p:nvSpPr>
        <p:spPr>
          <a:xfrm>
            <a:off x="6327648" y="3200400"/>
            <a:ext cx="2377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Élevé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57200" y="4206240"/>
            <a:ext cx="8229600" cy="658368"/>
          </a:xfrm>
          <a:prstGeom prst="roundRect">
            <a:avLst>
              <a:gd name="adj" fmla="val 9722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621792" y="4297680"/>
            <a:ext cx="18288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Pourquoi GCP ?</a:t>
            </a:r>
            <a:endParaRPr lang="en-US" sz="1050" dirty="0"/>
          </a:p>
        </p:txBody>
      </p:sp>
      <p:sp>
        <p:nvSpPr>
          <p:cNvPr id="36" name="Text 34"/>
          <p:cNvSpPr txBox="1"/>
          <p:nvPr/>
        </p:nvSpPr>
        <p:spPr>
          <a:xfrm>
            <a:off x="2377440" y="4279392"/>
            <a:ext cx="6126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couvre embeddings + LLM en un seul service · Intégration native Hugging Face · Cloud Run gere le scaling automatiquement — ideal pour un MVP dont la charge est encore incertaine.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3 · ARCHITECTURE TECHNIQUE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Les 4 couches du MVP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170432"/>
            <a:ext cx="8138160" cy="749808"/>
          </a:xfrm>
          <a:prstGeom prst="roundRect">
            <a:avLst>
              <a:gd name="adj" fmla="val 8537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713232" y="1380744"/>
            <a:ext cx="338328" cy="338328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713232" y="138074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1170432" y="126187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2A5C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Interface utilisateur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1170432" y="157276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REST (FastAPI) · Intégrable directement dans la plateforme Puls-Events existante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502920" y="2039112"/>
            <a:ext cx="8138160" cy="749808"/>
          </a:xfrm>
          <a:prstGeom prst="roundRect">
            <a:avLst>
              <a:gd name="adj" fmla="val 8537"/>
            </a:avLst>
          </a:prstGeom>
          <a:solidFill>
            <a:srgbClr val="E8EFFE"/>
          </a:solidFill>
          <a:ln w="9525">
            <a:solidFill>
              <a:srgbClr val="A8BCED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713232" y="2249424"/>
            <a:ext cx="338328" cy="338328"/>
          </a:xfrm>
          <a:prstGeom prst="ellipse">
            <a:avLst/>
          </a:prstGeom>
          <a:solidFill>
            <a:srgbClr val="1E4DB8"/>
          </a:solidFill>
          <a:ln w="12700">
            <a:solidFill>
              <a:srgbClr val="1E4DB8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13232" y="224942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213055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E4DB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Moteur RAG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1170432" y="244144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text-embedding-gecko · ChromaDB (MVP) → Vertex AI Vector Search (prod) · Gemini Pro · LangChain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02920" y="2907792"/>
            <a:ext cx="8138160" cy="749808"/>
          </a:xfrm>
          <a:prstGeom prst="roundRect">
            <a:avLst>
              <a:gd name="adj" fmla="val 8537"/>
            </a:avLst>
          </a:prstGeom>
          <a:solidFill>
            <a:srgbClr val="FDF0E8"/>
          </a:solidFill>
          <a:ln w="9525">
            <a:solidFill>
              <a:srgbClr val="F5C4A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713232" y="3118104"/>
            <a:ext cx="338328" cy="338328"/>
          </a:xfrm>
          <a:prstGeom prst="ellipse">
            <a:avLst/>
          </a:prstGeom>
          <a:solidFill>
            <a:srgbClr val="E87825"/>
          </a:solidFill>
          <a:ln w="12700">
            <a:solidFill>
              <a:srgbClr val="E8782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713232" y="311810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170432" y="299923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E8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Modules complémentaires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1170432" y="331012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 : Firestore par session · Géoloc : filtre pré-requête · Recherche web : smolagents si données insuffisantes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502920" y="3776472"/>
            <a:ext cx="8138160" cy="749808"/>
          </a:xfrm>
          <a:prstGeom prst="roundRect">
            <a:avLst>
              <a:gd name="adj" fmla="val 8537"/>
            </a:avLst>
          </a:prstGeom>
          <a:solidFill>
            <a:srgbClr val="E6F5EF"/>
          </a:solidFill>
          <a:ln w="9525">
            <a:solidFill>
              <a:srgbClr val="9FD4BE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713232" y="3986784"/>
            <a:ext cx="338328" cy="338328"/>
          </a:xfrm>
          <a:prstGeom prst="ellipse">
            <a:avLst/>
          </a:prstGeom>
          <a:solidFill>
            <a:srgbClr val="1A7A58"/>
          </a:solidFill>
          <a:ln w="12700">
            <a:solidFill>
              <a:srgbClr val="1A7A58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13232" y="3986784"/>
            <a:ext cx="338328" cy="338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170432" y="3867912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7A5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Monitoring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1170432" y="4178808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Langfuse : traçabilité appels LLM, latence, qualité · Métriques custom : satisfaction et pertinence des réponses</a:t>
            </a:r>
            <a:endParaRPr lang="en-US" sz="950" dirty="0"/>
          </a:p>
        </p:txBody>
      </p:sp>
      <p:sp>
        <p:nvSpPr>
          <p:cNvPr id="25" name="Text 23"/>
          <p:cNvSpPr txBox="1"/>
          <p:nvPr/>
        </p:nvSpPr>
        <p:spPr>
          <a:xfrm>
            <a:off x="502920" y="4681728"/>
            <a:ext cx="8229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 : Utilisateur  →  API  →  [Géoloc + Mémoire]  →  RAG  →  [smolagents si besoin]  →  LLM  →  Réponse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4 · BACKLOG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Macro Backlog — Priorisation MoSCoW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15568"/>
            <a:ext cx="8229600" cy="320040"/>
          </a:xfrm>
          <a:prstGeom prst="roundRect">
            <a:avLst>
              <a:gd name="adj" fmla="val 20000"/>
            </a:avLst>
          </a:prstGeom>
          <a:solidFill>
            <a:srgbClr val="1B2F6B"/>
          </a:solidFill>
          <a:ln w="9525">
            <a:solidFill>
              <a:srgbClr val="1B2F6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548640" y="1161288"/>
            <a:ext cx="13258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Priorité</a:t>
            </a:r>
            <a:endParaRPr lang="en-US" sz="900" dirty="0"/>
          </a:p>
        </p:txBody>
      </p:sp>
      <p:sp>
        <p:nvSpPr>
          <p:cNvPr id="7" name="Text 5"/>
          <p:cNvSpPr txBox="1"/>
          <p:nvPr/>
        </p:nvSpPr>
        <p:spPr>
          <a:xfrm>
            <a:off x="1965960" y="1161288"/>
            <a:ext cx="14173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Epic</a:t>
            </a:r>
            <a:endParaRPr lang="en-US" sz="900" dirty="0"/>
          </a:p>
        </p:txBody>
      </p:sp>
      <p:sp>
        <p:nvSpPr>
          <p:cNvPr id="8" name="Text 6"/>
          <p:cNvSpPr txBox="1"/>
          <p:nvPr/>
        </p:nvSpPr>
        <p:spPr>
          <a:xfrm>
            <a:off x="3474720" y="1161288"/>
            <a:ext cx="507492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Fonctionnalité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57200" y="1463040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566928" y="1527048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EECEC"/>
          </a:solidFill>
          <a:ln w="9525">
            <a:solidFill>
              <a:srgbClr val="FEECEC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566928" y="1527048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00" dirty="0"/>
          </a:p>
        </p:txBody>
      </p:sp>
      <p:sp>
        <p:nvSpPr>
          <p:cNvPr id="12" name="Text 10"/>
          <p:cNvSpPr txBox="1"/>
          <p:nvPr/>
        </p:nvSpPr>
        <p:spPr>
          <a:xfrm>
            <a:off x="1920240" y="1545336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Core</a:t>
            </a:r>
            <a:endParaRPr lang="en-US" sz="1000" dirty="0"/>
          </a:p>
        </p:txBody>
      </p:sp>
      <p:sp>
        <p:nvSpPr>
          <p:cNvPr id="13" name="Text 11"/>
          <p:cNvSpPr txBox="1"/>
          <p:nvPr/>
        </p:nvSpPr>
        <p:spPr>
          <a:xfrm>
            <a:off x="3456432" y="1545336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Indexation Open Agenda + recherche sémantique vectorielle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457200" y="1847088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566928" y="1911096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EECEC"/>
          </a:solidFill>
          <a:ln w="9525">
            <a:solidFill>
              <a:srgbClr val="FEECEC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566928" y="1911096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1920240" y="1929384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 Core</a:t>
            </a:r>
            <a:endParaRPr lang="en-US" sz="1000" dirty="0"/>
          </a:p>
        </p:txBody>
      </p:sp>
      <p:sp>
        <p:nvSpPr>
          <p:cNvPr id="18" name="Text 16"/>
          <p:cNvSpPr txBox="1"/>
          <p:nvPr/>
        </p:nvSpPr>
        <p:spPr>
          <a:xfrm>
            <a:off x="3456432" y="1929384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Génération de réponses via Gemini Pro (orchestration LangChain)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2231136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566928" y="2295144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EECEC"/>
          </a:solidFill>
          <a:ln w="9525">
            <a:solidFill>
              <a:srgbClr val="FEECEC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566928" y="2295144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00" dirty="0"/>
          </a:p>
        </p:txBody>
      </p:sp>
      <p:sp>
        <p:nvSpPr>
          <p:cNvPr id="22" name="Text 20"/>
          <p:cNvSpPr txBox="1"/>
          <p:nvPr/>
        </p:nvSpPr>
        <p:spPr>
          <a:xfrm>
            <a:off x="1920240" y="2313432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Mémoire</a:t>
            </a:r>
            <a:endParaRPr lang="en-US" sz="1000" dirty="0"/>
          </a:p>
        </p:txBody>
      </p:sp>
      <p:sp>
        <p:nvSpPr>
          <p:cNvPr id="23" name="Text 21"/>
          <p:cNvSpPr txBox="1"/>
          <p:nvPr/>
        </p:nvSpPr>
        <p:spPr>
          <a:xfrm>
            <a:off x="3456432" y="2313432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Historique de conversation par session utilisateur (Firestore)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2615184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66928" y="2679192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EECEC"/>
          </a:solidFill>
          <a:ln w="9525">
            <a:solidFill>
              <a:srgbClr val="FEECEC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66928" y="2679192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D32F2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Must</a:t>
            </a:r>
            <a:endParaRPr lang="en-US" sz="900" dirty="0"/>
          </a:p>
        </p:txBody>
      </p:sp>
      <p:sp>
        <p:nvSpPr>
          <p:cNvPr id="27" name="Text 25"/>
          <p:cNvSpPr txBox="1"/>
          <p:nvPr/>
        </p:nvSpPr>
        <p:spPr>
          <a:xfrm>
            <a:off x="1920240" y="2697480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Géoloc</a:t>
            </a:r>
            <a:endParaRPr lang="en-US" sz="1000" dirty="0"/>
          </a:p>
        </p:txBody>
      </p:sp>
      <p:sp>
        <p:nvSpPr>
          <p:cNvPr id="28" name="Text 26"/>
          <p:cNvSpPr txBox="1"/>
          <p:nvPr/>
        </p:nvSpPr>
        <p:spPr>
          <a:xfrm>
            <a:off x="3456432" y="2697480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Filtrage des résultats selon la localisation de l'utilisateur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57200" y="2999232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566928" y="3063240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DF0E8"/>
          </a:solidFill>
          <a:ln w="9525">
            <a:solidFill>
              <a:srgbClr val="FDF0E8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566928" y="3063240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00" dirty="0"/>
          </a:p>
        </p:txBody>
      </p:sp>
      <p:sp>
        <p:nvSpPr>
          <p:cNvPr id="32" name="Text 30"/>
          <p:cNvSpPr txBox="1"/>
          <p:nvPr/>
        </p:nvSpPr>
        <p:spPr>
          <a:xfrm>
            <a:off x="1920240" y="3081528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Recherche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3456432" y="3081528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smolagents pour la recherche web en temps réel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57200" y="3383280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566928" y="3447288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DF0E8"/>
          </a:solidFill>
          <a:ln w="9525">
            <a:solidFill>
              <a:srgbClr val="FDF0E8"/>
            </a:solidFill>
            <a:prstDash val="solid"/>
          </a:ln>
        </p:spPr>
      </p:sp>
      <p:sp>
        <p:nvSpPr>
          <p:cNvPr id="36" name="Text 34"/>
          <p:cNvSpPr txBox="1"/>
          <p:nvPr/>
        </p:nvSpPr>
        <p:spPr>
          <a:xfrm>
            <a:off x="566928" y="3447288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E87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Should</a:t>
            </a:r>
            <a:endParaRPr lang="en-US" sz="900" dirty="0"/>
          </a:p>
        </p:txBody>
      </p:sp>
      <p:sp>
        <p:nvSpPr>
          <p:cNvPr id="37" name="Text 35"/>
          <p:cNvSpPr txBox="1"/>
          <p:nvPr/>
        </p:nvSpPr>
        <p:spPr>
          <a:xfrm>
            <a:off x="1920240" y="3465576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Monitoring</a:t>
            </a:r>
            <a:endParaRPr lang="en-US" sz="1000" dirty="0"/>
          </a:p>
        </p:txBody>
      </p:sp>
      <p:sp>
        <p:nvSpPr>
          <p:cNvPr id="38" name="Text 36"/>
          <p:cNvSpPr txBox="1"/>
          <p:nvPr/>
        </p:nvSpPr>
        <p:spPr>
          <a:xfrm>
            <a:off x="3456432" y="3465576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Langfuse + API documentée via Swagger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457200" y="3767328"/>
            <a:ext cx="8229600" cy="365760"/>
          </a:xfrm>
          <a:prstGeom prst="roundRect">
            <a:avLst>
              <a:gd name="adj" fmla="val 175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566928" y="3831336"/>
            <a:ext cx="1234440" cy="246888"/>
          </a:xfrm>
          <a:prstGeom prst="roundRect">
            <a:avLst>
              <a:gd name="adj" fmla="val 25926"/>
            </a:avLst>
          </a:prstGeom>
          <a:solidFill>
            <a:srgbClr val="FEF3C7"/>
          </a:solidFill>
          <a:ln w="9525">
            <a:solidFill>
              <a:srgbClr val="FEF3C7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566928" y="3831336"/>
            <a:ext cx="12344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B4530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Could</a:t>
            </a:r>
            <a:endParaRPr lang="en-US" sz="900" dirty="0"/>
          </a:p>
        </p:txBody>
      </p:sp>
      <p:sp>
        <p:nvSpPr>
          <p:cNvPr id="42" name="Text 40"/>
          <p:cNvSpPr txBox="1"/>
          <p:nvPr/>
        </p:nvSpPr>
        <p:spPr>
          <a:xfrm>
            <a:off x="1920240" y="3849624"/>
            <a:ext cx="14630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UX / Perf</a:t>
            </a:r>
            <a:endParaRPr lang="en-US" sz="1000" dirty="0"/>
          </a:p>
        </p:txBody>
      </p:sp>
      <p:sp>
        <p:nvSpPr>
          <p:cNvPr id="43" name="Text 41"/>
          <p:cNvSpPr txBox="1"/>
          <p:nvPr/>
        </p:nvSpPr>
        <p:spPr>
          <a:xfrm>
            <a:off x="3456432" y="3849624"/>
            <a:ext cx="512064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chat intégrée · Score satisfaction · Multilingue (post-MVP)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5 · ESTIMATION DES COÛTS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Budget Build &amp; OPEX mensuel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457200" y="1170432"/>
            <a:ext cx="3200400" cy="1600200"/>
          </a:xfrm>
          <a:prstGeom prst="roundRect">
            <a:avLst>
              <a:gd name="adj" fmla="val 4000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21792" y="12801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A5CE6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~3 200 EUR</a:t>
            </a:r>
            <a:endParaRPr lang="en-US" sz="3600" dirty="0"/>
          </a:p>
        </p:txBody>
      </p:sp>
      <p:sp>
        <p:nvSpPr>
          <p:cNvPr id="7" name="Text 5"/>
          <p:cNvSpPr txBox="1"/>
          <p:nvPr/>
        </p:nvSpPr>
        <p:spPr>
          <a:xfrm>
            <a:off x="621792" y="198424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Coût de développement initial (Build)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621792" y="22768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 alternant 3 mois + setup GCP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858768" y="1170432"/>
            <a:ext cx="3200400" cy="1600200"/>
          </a:xfrm>
          <a:prstGeom prst="roundRect">
            <a:avLst>
              <a:gd name="adj" fmla="val 4000"/>
            </a:avLst>
          </a:prstGeom>
          <a:solidFill>
            <a:srgbClr val="FDF0E8"/>
          </a:solidFill>
          <a:ln w="9525">
            <a:solidFill>
              <a:srgbClr val="F5C4A0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023360" y="1280160"/>
            <a:ext cx="29260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E8782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~108 EUR</a:t>
            </a:r>
            <a:endParaRPr lang="en-US" sz="3600" dirty="0"/>
          </a:p>
        </p:txBody>
      </p:sp>
      <p:sp>
        <p:nvSpPr>
          <p:cNvPr id="11" name="Text 9"/>
          <p:cNvSpPr txBox="1"/>
          <p:nvPr/>
        </p:nvSpPr>
        <p:spPr>
          <a:xfrm>
            <a:off x="4023360" y="1984248"/>
            <a:ext cx="28346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E87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OPEX mensuel estimé</a:t>
            </a:r>
            <a:endParaRPr lang="en-US" sz="1050" dirty="0"/>
          </a:p>
        </p:txBody>
      </p:sp>
      <p:sp>
        <p:nvSpPr>
          <p:cNvPr id="12" name="Text 10"/>
          <p:cNvSpPr txBox="1"/>
          <p:nvPr/>
        </p:nvSpPr>
        <p:spPr>
          <a:xfrm>
            <a:off x="4023360" y="2276856"/>
            <a:ext cx="2834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7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: 1 000 users x 50 req/mois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7269480" y="1170432"/>
            <a:ext cx="1554480" cy="1600200"/>
          </a:xfrm>
          <a:prstGeom prst="roundRect">
            <a:avLst>
              <a:gd name="adj" fmla="val 4118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7388352" y="1298448"/>
            <a:ext cx="1371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5C607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~800 EUR</a:t>
            </a:r>
            <a:endParaRPr 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7388352" y="1810512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x10 users</a:t>
            </a:r>
            <a:endParaRPr lang="en-US" sz="950" dirty="0"/>
          </a:p>
        </p:txBody>
      </p:sp>
      <p:sp>
        <p:nvSpPr>
          <p:cNvPr id="16" name="Text 14"/>
          <p:cNvSpPr txBox="1"/>
          <p:nvPr/>
        </p:nvSpPr>
        <p:spPr>
          <a:xfrm>
            <a:off x="7388352" y="2075688"/>
            <a:ext cx="13716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(~10 000 users)</a:t>
            </a:r>
            <a:endParaRPr lang="en-US" sz="850" dirty="0"/>
          </a:p>
        </p:txBody>
      </p:sp>
      <p:sp>
        <p:nvSpPr>
          <p:cNvPr id="17" name="Text 15"/>
          <p:cNvSpPr txBox="1"/>
          <p:nvPr/>
        </p:nvSpPr>
        <p:spPr>
          <a:xfrm>
            <a:off x="457200" y="29718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Detail OPEX mensuel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57200" y="3291840"/>
            <a:ext cx="3977640" cy="320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594360" y="3346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(Gemini Pro)</a:t>
            </a:r>
            <a:endParaRPr lang="en-US" sz="950" dirty="0"/>
          </a:p>
        </p:txBody>
      </p:sp>
      <p:sp>
        <p:nvSpPr>
          <p:cNvPr id="20" name="Text 18"/>
          <p:cNvSpPr txBox="1"/>
          <p:nvPr/>
        </p:nvSpPr>
        <p:spPr>
          <a:xfrm>
            <a:off x="3566160" y="334670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~70 EUR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457200" y="3657600"/>
            <a:ext cx="3977640" cy="320040"/>
          </a:xfrm>
          <a:prstGeom prst="roundRect">
            <a:avLst>
              <a:gd name="adj" fmla="val 20000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94360" y="3712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 Run (serverless)</a:t>
            </a:r>
            <a:endParaRPr lang="en-US" sz="950" dirty="0"/>
          </a:p>
        </p:txBody>
      </p:sp>
      <p:sp>
        <p:nvSpPr>
          <p:cNvPr id="23" name="Text 21"/>
          <p:cNvSpPr txBox="1"/>
          <p:nvPr/>
        </p:nvSpPr>
        <p:spPr>
          <a:xfrm>
            <a:off x="3566160" y="371246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~20 EUR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457200" y="4023360"/>
            <a:ext cx="3977640" cy="320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594360" y="407822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Firestore (memoire)</a:t>
            </a:r>
            <a:endParaRPr lang="en-US" sz="950" dirty="0"/>
          </a:p>
        </p:txBody>
      </p:sp>
      <p:sp>
        <p:nvSpPr>
          <p:cNvPr id="26" name="Text 24"/>
          <p:cNvSpPr txBox="1"/>
          <p:nvPr/>
        </p:nvSpPr>
        <p:spPr>
          <a:xfrm>
            <a:off x="3566160" y="407822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~5 EUR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663440" y="3291840"/>
            <a:ext cx="3977640" cy="320040"/>
          </a:xfrm>
          <a:prstGeom prst="roundRect">
            <a:avLst>
              <a:gd name="adj" fmla="val 20000"/>
            </a:avLst>
          </a:prstGeom>
          <a:solidFill>
            <a:srgbClr val="F5F6F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4800600" y="334670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Vertex AI Embeddings</a:t>
            </a:r>
            <a:endParaRPr lang="en-US" sz="950" dirty="0"/>
          </a:p>
        </p:txBody>
      </p:sp>
      <p:sp>
        <p:nvSpPr>
          <p:cNvPr id="29" name="Text 27"/>
          <p:cNvSpPr txBox="1"/>
          <p:nvPr/>
        </p:nvSpPr>
        <p:spPr>
          <a:xfrm>
            <a:off x="7772400" y="334670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 EUR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4663440" y="3657600"/>
            <a:ext cx="3977640" cy="320040"/>
          </a:xfrm>
          <a:prstGeom prst="roundRect">
            <a:avLst>
              <a:gd name="adj" fmla="val 20000"/>
            </a:avLst>
          </a:prstGeom>
          <a:solidFill>
            <a:srgbClr val="FFFFFF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4800600" y="3712464"/>
            <a:ext cx="29260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Smolagents / APIs externes</a:t>
            </a:r>
            <a:endParaRPr lang="en-US" sz="950" dirty="0"/>
          </a:p>
        </p:txBody>
      </p:sp>
      <p:sp>
        <p:nvSpPr>
          <p:cNvPr id="32" name="Text 30"/>
          <p:cNvSpPr txBox="1"/>
          <p:nvPr/>
        </p:nvSpPr>
        <p:spPr>
          <a:xfrm>
            <a:off x="7772400" y="3712464"/>
            <a:ext cx="7772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~10 EUR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F5F6FC"/>
          </a:solidFill>
          <a:ln w="12700">
            <a:solidFill>
              <a:srgbClr val="F5F6FC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502920" y="320040"/>
            <a:ext cx="822960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spc="180" kern="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SECTION 6 · PLAN DE PROJET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02920" y="54864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C1C2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Planning sur 12 semaines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2423160" y="1170432"/>
            <a:ext cx="6400800" cy="228600"/>
          </a:xfrm>
          <a:prstGeom prst="roundRect">
            <a:avLst>
              <a:gd name="adj" fmla="val 28000"/>
            </a:avLst>
          </a:prstGeom>
          <a:solidFill>
            <a:srgbClr val="E0E2EC"/>
          </a:solidFill>
          <a:ln w="9525">
            <a:solidFill>
              <a:srgbClr val="E0E2EC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24231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800" dirty="0"/>
          </a:p>
        </p:txBody>
      </p:sp>
      <p:sp>
        <p:nvSpPr>
          <p:cNvPr id="7" name="Text 5"/>
          <p:cNvSpPr txBox="1"/>
          <p:nvPr/>
        </p:nvSpPr>
        <p:spPr>
          <a:xfrm>
            <a:off x="29565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800" dirty="0"/>
          </a:p>
        </p:txBody>
      </p:sp>
      <p:sp>
        <p:nvSpPr>
          <p:cNvPr id="8" name="Text 6"/>
          <p:cNvSpPr txBox="1"/>
          <p:nvPr/>
        </p:nvSpPr>
        <p:spPr>
          <a:xfrm>
            <a:off x="34899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800" dirty="0"/>
          </a:p>
        </p:txBody>
      </p:sp>
      <p:sp>
        <p:nvSpPr>
          <p:cNvPr id="9" name="Text 7"/>
          <p:cNvSpPr txBox="1"/>
          <p:nvPr/>
        </p:nvSpPr>
        <p:spPr>
          <a:xfrm>
            <a:off x="40233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45567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800" dirty="0"/>
          </a:p>
        </p:txBody>
      </p:sp>
      <p:sp>
        <p:nvSpPr>
          <p:cNvPr id="11" name="Text 9"/>
          <p:cNvSpPr txBox="1"/>
          <p:nvPr/>
        </p:nvSpPr>
        <p:spPr>
          <a:xfrm>
            <a:off x="50901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S6</a:t>
            </a:r>
            <a:endParaRPr lang="en-US" sz="800" dirty="0"/>
          </a:p>
        </p:txBody>
      </p:sp>
      <p:sp>
        <p:nvSpPr>
          <p:cNvPr id="12" name="Text 10"/>
          <p:cNvSpPr txBox="1"/>
          <p:nvPr/>
        </p:nvSpPr>
        <p:spPr>
          <a:xfrm>
            <a:off x="56235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S7</a:t>
            </a:r>
            <a:endParaRPr lang="en-US" sz="800" dirty="0"/>
          </a:p>
        </p:txBody>
      </p:sp>
      <p:sp>
        <p:nvSpPr>
          <p:cNvPr id="13" name="Text 11"/>
          <p:cNvSpPr txBox="1"/>
          <p:nvPr/>
        </p:nvSpPr>
        <p:spPr>
          <a:xfrm>
            <a:off x="61569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S8</a:t>
            </a:r>
            <a:endParaRPr lang="en-US" sz="800" dirty="0"/>
          </a:p>
        </p:txBody>
      </p:sp>
      <p:sp>
        <p:nvSpPr>
          <p:cNvPr id="14" name="Text 12"/>
          <p:cNvSpPr txBox="1"/>
          <p:nvPr/>
        </p:nvSpPr>
        <p:spPr>
          <a:xfrm>
            <a:off x="66903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S9</a:t>
            </a:r>
            <a:endParaRPr lang="en-US" sz="800" dirty="0"/>
          </a:p>
        </p:txBody>
      </p:sp>
      <p:sp>
        <p:nvSpPr>
          <p:cNvPr id="15" name="Text 13"/>
          <p:cNvSpPr txBox="1"/>
          <p:nvPr/>
        </p:nvSpPr>
        <p:spPr>
          <a:xfrm>
            <a:off x="72237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S10</a:t>
            </a:r>
            <a:endParaRPr lang="en-US" sz="800" dirty="0"/>
          </a:p>
        </p:txBody>
      </p:sp>
      <p:sp>
        <p:nvSpPr>
          <p:cNvPr id="16" name="Text 14"/>
          <p:cNvSpPr txBox="1"/>
          <p:nvPr/>
        </p:nvSpPr>
        <p:spPr>
          <a:xfrm>
            <a:off x="77571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S11</a:t>
            </a:r>
            <a:endParaRPr lang="en-US" sz="800" dirty="0"/>
          </a:p>
        </p:txBody>
      </p:sp>
      <p:sp>
        <p:nvSpPr>
          <p:cNvPr id="17" name="Text 15"/>
          <p:cNvSpPr txBox="1"/>
          <p:nvPr/>
        </p:nvSpPr>
        <p:spPr>
          <a:xfrm>
            <a:off x="8290560" y="1170432"/>
            <a:ext cx="533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5C607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S12</a:t>
            </a:r>
            <a:endParaRPr lang="en-US" sz="800" dirty="0"/>
          </a:p>
        </p:txBody>
      </p:sp>
      <p:sp>
        <p:nvSpPr>
          <p:cNvPr id="18" name="Text 16"/>
          <p:cNvSpPr txBox="1"/>
          <p:nvPr/>
        </p:nvSpPr>
        <p:spPr>
          <a:xfrm>
            <a:off x="457200" y="1463040"/>
            <a:ext cx="1737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Cadrage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423160" y="1417320"/>
            <a:ext cx="1030224" cy="484632"/>
          </a:xfrm>
          <a:prstGeom prst="roundRect">
            <a:avLst>
              <a:gd name="adj" fmla="val 13208"/>
            </a:avLst>
          </a:prstGeom>
          <a:solidFill>
            <a:srgbClr val="EEF2FD"/>
          </a:solidFill>
          <a:ln w="9525">
            <a:solidFill>
              <a:srgbClr val="B8CCF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496312" y="1527048"/>
            <a:ext cx="920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A5CE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validee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457200" y="1993392"/>
            <a:ext cx="1737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RAG Core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3489960" y="1947672"/>
            <a:ext cx="1563624" cy="484632"/>
          </a:xfrm>
          <a:prstGeom prst="roundRect">
            <a:avLst>
              <a:gd name="adj" fmla="val 13208"/>
            </a:avLst>
          </a:prstGeom>
          <a:solidFill>
            <a:srgbClr val="E0E8FF"/>
          </a:solidFill>
          <a:ln w="9525">
            <a:solidFill>
              <a:srgbClr val="A8BCED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3563112" y="2057400"/>
            <a:ext cx="1453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E4D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v1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457200" y="2523744"/>
            <a:ext cx="1737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Enrichissement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090160" y="2478024"/>
            <a:ext cx="1563624" cy="484632"/>
          </a:xfrm>
          <a:prstGeom prst="roundRect">
            <a:avLst>
              <a:gd name="adj" fmla="val 13208"/>
            </a:avLst>
          </a:prstGeom>
          <a:solidFill>
            <a:srgbClr val="FDF0E8"/>
          </a:solidFill>
          <a:ln w="9525">
            <a:solidFill>
              <a:srgbClr val="F5C4A0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5163312" y="2587752"/>
            <a:ext cx="14538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782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Chatbot v2 complet</a:t>
            </a:r>
            <a:endParaRPr lang="en-US" sz="850" dirty="0"/>
          </a:p>
        </p:txBody>
      </p:sp>
      <p:sp>
        <p:nvSpPr>
          <p:cNvPr id="27" name="Text 25"/>
          <p:cNvSpPr txBox="1"/>
          <p:nvPr/>
        </p:nvSpPr>
        <p:spPr>
          <a:xfrm>
            <a:off x="457200" y="3054096"/>
            <a:ext cx="1737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Monitoring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690360" y="3008376"/>
            <a:ext cx="1030224" cy="484632"/>
          </a:xfrm>
          <a:prstGeom prst="roundRect">
            <a:avLst>
              <a:gd name="adj" fmla="val 13208"/>
            </a:avLst>
          </a:prstGeom>
          <a:solidFill>
            <a:srgbClr val="E6F5EF"/>
          </a:solidFill>
          <a:ln w="9525">
            <a:solidFill>
              <a:srgbClr val="9FD4BE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763512" y="3118104"/>
            <a:ext cx="920496" cy="283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7A5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actif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457200" y="3584448"/>
            <a:ext cx="1737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Tests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7757160" y="3538728"/>
            <a:ext cx="496824" cy="484632"/>
          </a:xfrm>
          <a:prstGeom prst="roundRect">
            <a:avLst>
              <a:gd name="adj" fmla="val 13208"/>
            </a:avLst>
          </a:prstGeom>
          <a:solidFill>
            <a:srgbClr val="FEF3C7"/>
          </a:solidFill>
          <a:ln w="9525">
            <a:solidFill>
              <a:srgbClr val="F0D085"/>
            </a:solidFill>
            <a:prstDash val="solid"/>
          </a:ln>
        </p:spPr>
      </p:sp>
      <p:sp>
        <p:nvSpPr>
          <p:cNvPr id="32" name="Text 30"/>
          <p:cNvSpPr txBox="1"/>
          <p:nvPr/>
        </p:nvSpPr>
        <p:spPr>
          <a:xfrm>
            <a:off x="457200" y="4114800"/>
            <a:ext cx="1737360" cy="3931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C1C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Livraison MVP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8290560" y="4069080"/>
            <a:ext cx="496824" cy="484632"/>
          </a:xfrm>
          <a:prstGeom prst="roundRect">
            <a:avLst>
              <a:gd name="adj" fmla="val 13208"/>
            </a:avLst>
          </a:prstGeom>
          <a:solidFill>
            <a:srgbClr val="FEECEC"/>
          </a:solidFill>
          <a:ln w="9525">
            <a:solidFill>
              <a:srgbClr val="FBBABA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>
            <a:off x="3361944" y="1152144"/>
            <a:ext cx="256032" cy="256032"/>
          </a:xfrm>
          <a:prstGeom prst="ellipse">
            <a:avLst/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3233928" y="4681728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4962144" y="1152144"/>
            <a:ext cx="256032" cy="256032"/>
          </a:xfrm>
          <a:prstGeom prst="ellipse">
            <a:avLst/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4834128" y="4681728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J2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6562344" y="1152144"/>
            <a:ext cx="256032" cy="256032"/>
          </a:xfrm>
          <a:prstGeom prst="ellipse">
            <a:avLst/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39" name="Text 37"/>
          <p:cNvSpPr txBox="1"/>
          <p:nvPr/>
        </p:nvSpPr>
        <p:spPr>
          <a:xfrm>
            <a:off x="6434328" y="4681728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J3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8695944" y="1152144"/>
            <a:ext cx="256032" cy="256032"/>
          </a:xfrm>
          <a:prstGeom prst="ellipse">
            <a:avLst/>
          </a:prstGeom>
          <a:solidFill>
            <a:srgbClr val="1B2F6B"/>
          </a:solidFill>
          <a:ln w="12700">
            <a:solidFill>
              <a:srgbClr val="1B2F6B"/>
            </a:solidFill>
            <a:prstDash val="solid"/>
          </a:ln>
        </p:spPr>
      </p:sp>
      <p:sp>
        <p:nvSpPr>
          <p:cNvPr id="41" name="Text 39"/>
          <p:cNvSpPr txBox="1"/>
          <p:nvPr/>
        </p:nvSpPr>
        <p:spPr>
          <a:xfrm>
            <a:off x="8567928" y="4681728"/>
            <a:ext cx="512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1B2F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J4</a:t>
            </a:r>
            <a:endParaRPr lang="en-US" sz="800" dirty="0"/>
          </a:p>
        </p:txBody>
      </p:sp>
      <p:sp>
        <p:nvSpPr>
          <p:cNvPr id="42" name="Text 40"/>
          <p:cNvSpPr txBox="1"/>
          <p:nvPr/>
        </p:nvSpPr>
        <p:spPr>
          <a:xfrm>
            <a:off x="2423160" y="4681728"/>
            <a:ext cx="63093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DA8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J1 Archi validee  ·  J2 Demo RAG Core  ·  J3 Demo MVP complet  ·  J4 Livraison production</a:t>
            </a:r>
            <a:endParaRPr lang="en-US" sz="7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143500"/>
          </a:xfrm>
          <a:prstGeom prst="rect">
            <a:avLst/>
          </a:prstGeom>
          <a:solidFill>
            <a:srgbClr val="101828"/>
          </a:solidFill>
          <a:ln w="12700">
            <a:solidFill>
              <a:srgbClr val="101828"/>
            </a:solidFill>
            <a:prstDash val="solid"/>
          </a:ln>
        </p:spPr>
      </p:sp>
      <p:sp>
        <p:nvSpPr>
          <p:cNvPr id="3" name="Text 1"/>
          <p:cNvSpPr txBox="1"/>
          <p:nvPr/>
        </p:nvSpPr>
        <p:spPr>
          <a:xfrm>
            <a:off x="685800" y="384048"/>
            <a:ext cx="7315200" cy="2468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6B85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resume</a:t>
            </a:r>
            <a:endParaRPr lang="en-US" sz="900" dirty="0"/>
          </a:p>
        </p:txBody>
      </p:sp>
      <p:sp>
        <p:nvSpPr>
          <p:cNvPr id="4" name="Text 2"/>
          <p:cNvSpPr txBox="1"/>
          <p:nvPr/>
        </p:nvSpPr>
        <p:spPr>
          <a:xfrm>
            <a:off x="685800" y="658368"/>
            <a:ext cx="7772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MVP pret a passer en production</a:t>
            </a:r>
            <a:endParaRPr lang="en-US" sz="3000" dirty="0"/>
          </a:p>
        </p:txBody>
      </p:sp>
      <p:sp>
        <p:nvSpPr>
          <p:cNvPr id="5" name="Shape 3"/>
          <p:cNvSpPr/>
          <p:nvPr/>
        </p:nvSpPr>
        <p:spPr>
          <a:xfrm>
            <a:off x="685800" y="1581912"/>
            <a:ext cx="164592" cy="164592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87552" y="150876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87552" y="178308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GCP · Vertex AI · LangChain · ChromaDB · smolagents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85800" y="2221992"/>
            <a:ext cx="164592" cy="164592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87552" y="214884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fonctionnalites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87552" y="242316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Memoire · Geolocalisation · Recherche web · Monitoring</a:t>
            </a:r>
            <a:endParaRPr lang="en-US" sz="1050" dirty="0"/>
          </a:p>
        </p:txBody>
      </p:sp>
      <p:sp>
        <p:nvSpPr>
          <p:cNvPr id="11" name="Shape 9"/>
          <p:cNvSpPr/>
          <p:nvPr/>
        </p:nvSpPr>
        <p:spPr>
          <a:xfrm>
            <a:off x="685800" y="2862072"/>
            <a:ext cx="164592" cy="164592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87552" y="278892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 maitrise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87552" y="306324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~3 200 EUR  ·  OPEX ~108 EUR/mois (1 000 users)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685800" y="3502152"/>
            <a:ext cx="164592" cy="164592"/>
          </a:xfrm>
          <a:prstGeom prst="ellipse">
            <a:avLst/>
          </a:prstGeom>
          <a:solidFill>
            <a:srgbClr val="2A5CE6"/>
          </a:solidFill>
          <a:ln w="12700">
            <a:solidFill>
              <a:srgbClr val="2A5CE6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87552" y="3429000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Planning clair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87552" y="3703320"/>
            <a:ext cx="7315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8A9D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semaines · 4 jalons de validation · Livraison S12</a:t>
            </a:r>
            <a:endParaRPr lang="en-US" sz="1050" dirty="0"/>
          </a:p>
        </p:txBody>
      </p:sp>
      <p:sp>
        <p:nvSpPr>
          <p:cNvPr id="17" name="Shape 15"/>
          <p:cNvSpPr/>
          <p:nvPr/>
        </p:nvSpPr>
        <p:spPr>
          <a:xfrm>
            <a:off x="685800" y="4480560"/>
            <a:ext cx="7772400" cy="411480"/>
          </a:xfrm>
          <a:prstGeom prst="roundRect">
            <a:avLst>
              <a:gd name="adj" fmla="val 15556"/>
            </a:avLst>
          </a:prstGeom>
          <a:solidFill>
            <a:srgbClr val="162454"/>
          </a:solidFill>
          <a:ln w="9525">
            <a:solidFill>
              <a:srgbClr val="162454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68680" y="4562856"/>
            <a:ext cx="201168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8AADD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GitHub :</a:t>
            </a:r>
            <a:endParaRPr lang="en-US" sz="1000" dirty="0"/>
          </a:p>
        </p:txBody>
      </p:sp>
      <p:sp>
        <p:nvSpPr>
          <p:cNvPr id="19" name="Text 17">
            <a:hlinkClick r:id="rId1" tooltip=""/>
          </p:cNvPr>
          <p:cNvSpPr txBox="1"/>
          <p:nvPr/>
        </p:nvSpPr>
        <p:spPr>
          <a:xfrm>
            <a:off x="2834640" y="4562856"/>
            <a:ext cx="5486400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u="sng" dirty="0">
                <a:solidFill>
                  <a:srgbClr val="5B82C0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github.com/dorrazch-hue/dorra-portfolio-data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2026-08-28T12:28:21Z</dcterms:created>
  <dcterms:modified xsi:type="dcterms:W3CDTF">2026-08-28T12:28:21Z</dcterms:modified>
</cp:coreProperties>
</file>