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couverture — présenter le projet et son contexte général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Contexte : Puls-Events, le POC réalisé il y a un mois, et les 4 objectifs du MVP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besoins identifiés avec Jérémy : mémoire, géoloc, recherche web temps réel, monitoring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Choix GCP : Vertex AI tout-en-un, intégration HF native, Cloud Run serverless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couches : interface, RAG, modules complémentaires (mémoire + géoloc + smolagents), monitoring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Backlog MoSCoW : 4 Must (indispensables), 2 Should, 1 Could (post-MVP)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Risques critiques couverts par des mitigations techniques. KPIs mesurés via Langfuse et évaluations hebdomadaires.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~3200 EUR (developpement alternant inclus) · OPEX ~210 EUR/mois pour 1000 users · monter à ~1700-2000 EUR/mois pour 10x (optimisable via Gemini 1.5 Flash)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phases sur 12 semaines · 4 jalons de validation formels avec Jeremy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Rappeler les 4 points cles et partager le lien GitHub du portfolio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orrazch-hue/dorra-portfolio-data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F6B"/>
          </a:solidFill>
          <a:ln w="12700">
            <a:solidFill>
              <a:srgbClr val="1B2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645920"/>
            <a:ext cx="4389120" cy="4389120"/>
          </a:xfrm>
          <a:prstGeom prst="ellipse">
            <a:avLst/>
          </a:prstGeom>
          <a:solidFill>
            <a:srgbClr val="182864">
              <a:alpha val="45000"/>
            </a:srgbClr>
          </a:solidFill>
          <a:ln w="12700">
            <a:solidFill>
              <a:srgbClr val="182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89888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  ·  ÉTUDE DE DESIGN MVP  ·  AOÛT 2026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73352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POC au MVP :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95728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AB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RAG — Puls-Events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632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gestion de projet · Data Engineer en alternance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70916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64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: Jérémy  ·  12 semaines  ·  Stack : GCP · LangChain · Vertex AI · ChromaDB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C"/>
          </a:solidFill>
          <a:ln w="12700">
            <a:solidFill>
              <a:srgbClr val="F5F6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Puls-Events · Du POC au MVP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28016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5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Puls-Events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819656"/>
            <a:ext cx="137160" cy="137160"/>
          </a:xfrm>
          <a:prstGeom prst="ellipse">
            <a:avLst/>
          </a:prstGeom>
          <a:solidFill>
            <a:srgbClr val="2A5CE6"/>
          </a:solidFill>
          <a:ln w="12700">
            <a:solidFill>
              <a:srgbClr val="2A5C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17647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découverte d'événements culturels en temps réel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322576"/>
            <a:ext cx="137160" cy="137160"/>
          </a:xfrm>
          <a:prstGeom prst="ellipse">
            <a:avLst/>
          </a:prstGeom>
          <a:solidFill>
            <a:srgbClr val="2A5CE6"/>
          </a:solidFill>
          <a:ln w="12700">
            <a:solidFill>
              <a:srgbClr val="2A5C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2267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collectées via Open Agenda et d'autres sources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825496"/>
            <a:ext cx="137160" cy="137160"/>
          </a:xfrm>
          <a:prstGeom prst="ellipse">
            <a:avLst/>
          </a:prstGeom>
          <a:solidFill>
            <a:srgbClr val="2A5CE6"/>
          </a:solidFill>
          <a:ln w="12700">
            <a:solidFill>
              <a:srgbClr val="2A5C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2770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 : lieu, période, thématiques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3218688"/>
            <a:ext cx="3602736" cy="749808"/>
          </a:xfrm>
          <a:prstGeom prst="roundRect">
            <a:avLst>
              <a:gd name="adj" fmla="val 8537"/>
            </a:avLst>
          </a:prstGeom>
          <a:solidFill>
            <a:srgbClr val="EEF2FD"/>
          </a:solidFill>
          <a:ln w="9525">
            <a:solidFill>
              <a:srgbClr val="B8CC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9184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validé il y a 1 mois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538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Mistral AI + FAISS · RAG sémantique validé · Équipes convaincues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143000"/>
            <a:ext cx="4114800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1280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objectifs du MVP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1856232"/>
            <a:ext cx="164592" cy="164592"/>
          </a:xfrm>
          <a:prstGeom prst="ellipse">
            <a:avLst/>
          </a:prstGeom>
          <a:solidFill>
            <a:srgbClr val="E87825"/>
          </a:solidFill>
          <a:ln w="12700">
            <a:solidFill>
              <a:srgbClr val="E878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47488" y="178308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conversationnelle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47488" y="203911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Retenir l'historique pour personnaliser les échanges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514600"/>
            <a:ext cx="164592" cy="164592"/>
          </a:xfrm>
          <a:prstGeom prst="ellipse">
            <a:avLst/>
          </a:prstGeom>
          <a:solidFill>
            <a:srgbClr val="E87825"/>
          </a:solidFill>
          <a:ln w="12700">
            <a:solidFill>
              <a:srgbClr val="E8782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47488" y="244144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géographique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47488" y="269748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les réponses à la localisation de l'utilisateur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172968"/>
            <a:ext cx="164592" cy="164592"/>
          </a:xfrm>
          <a:prstGeom prst="ellipse">
            <a:avLst/>
          </a:prstGeom>
          <a:solidFill>
            <a:srgbClr val="E87825"/>
          </a:solidFill>
          <a:ln w="12700">
            <a:solidFill>
              <a:srgbClr val="E8782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47488" y="309981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web temps réel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047488" y="335584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smolagents (Hugging Face)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831336"/>
            <a:ext cx="164592" cy="164592"/>
          </a:xfrm>
          <a:prstGeom prst="ellipse">
            <a:avLst/>
          </a:prstGeom>
          <a:solidFill>
            <a:srgbClr val="E87825"/>
          </a:solidFill>
          <a:ln w="12700">
            <a:solidFill>
              <a:srgbClr val="E8782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47488" y="375818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 performance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47488" y="401421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Qualité, latence et satisfaction utilisateur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C"/>
          </a:solidFill>
          <a:ln w="12700">
            <a:solidFill>
              <a:srgbClr val="F5F6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ANALYSE DES BESOINS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4 défis techniques du MVP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087368" cy="1627632"/>
          </a:xfrm>
          <a:prstGeom prst="roundRect">
            <a:avLst>
              <a:gd name="adj" fmla="val 3933"/>
            </a:avLst>
          </a:prstGeom>
          <a:solidFill>
            <a:srgbClr val="EEF2FD"/>
          </a:solidFill>
          <a:ln w="9525">
            <a:solidFill>
              <a:srgbClr val="B8CC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35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5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Mémoire conversationnelle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8249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Retenir l'historique des échanges pour personnaliser les réponses au fil du temps, même entre plusieurs sessions.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73168" y="1170432"/>
            <a:ext cx="4087368" cy="1627632"/>
          </a:xfrm>
          <a:prstGeom prst="roundRect">
            <a:avLst>
              <a:gd name="adj" fmla="val 3933"/>
            </a:avLst>
          </a:prstGeom>
          <a:solidFill>
            <a:srgbClr val="FDF0E8"/>
          </a:solidFill>
          <a:ln w="9525">
            <a:solidFill>
              <a:srgbClr val="F5C4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74336" y="1335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géographique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74336" y="168249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et adapter les réponses du chatbot selon la localisation de l'utilisateur (ville, région).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4087368" cy="1627632"/>
          </a:xfrm>
          <a:prstGeom prst="roundRect">
            <a:avLst>
              <a:gd name="adj" fmla="val 3933"/>
            </a:avLst>
          </a:prstGeom>
          <a:solidFill>
            <a:srgbClr val="E6F5EF"/>
          </a:solidFill>
          <a:ln w="9525">
            <a:solidFill>
              <a:srgbClr val="9FD4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108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Recherche web temps réel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45643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les réponses via un agent smolagents (Hugging Face) lorsque la base vectorielle ne suffit pas.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73168" y="2944368"/>
            <a:ext cx="4087368" cy="1627632"/>
          </a:xfrm>
          <a:prstGeom prst="roundRect">
            <a:avLst>
              <a:gd name="adj" fmla="val 3933"/>
            </a:avLst>
          </a:prstGeom>
          <a:solidFill>
            <a:srgbClr val="FEF3C7"/>
          </a:solidFill>
          <a:ln w="9525">
            <a:solidFill>
              <a:srgbClr val="F0D08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74336" y="3108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de performance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74336" y="345643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en continu la qualité des réponses, la latence et la satisfaction utilisateur via Langfuse.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C"/>
          </a:solidFill>
          <a:ln w="12700">
            <a:solidFill>
              <a:srgbClr val="F5F6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CHOIX CLOUD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GCP — Solution retenue pour le MVP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97480" cy="29260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2618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67335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· SageMaker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116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VECTORIELLE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94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5146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017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MVP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200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10128" y="1143000"/>
            <a:ext cx="2697480" cy="2926080"/>
          </a:xfrm>
          <a:prstGeom prst="roundRect">
            <a:avLst>
              <a:gd name="adj" fmla="val 2373"/>
            </a:avLst>
          </a:prstGeom>
          <a:solidFill>
            <a:srgbClr val="EEF2FD"/>
          </a:solidFill>
          <a:ln w="9525">
            <a:solidFill>
              <a:srgbClr val="2A5C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12618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5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GCP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167335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· Gemini 1.5 Pro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0116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VECTORIELLE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2194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Vector Search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25146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017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MVP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200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Compétitif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0" y="3657600"/>
            <a:ext cx="2359152" cy="274320"/>
          </a:xfrm>
          <a:prstGeom prst="roundRect">
            <a:avLst>
              <a:gd name="adj" fmla="val 23333"/>
            </a:avLst>
          </a:prstGeom>
          <a:solidFill>
            <a:srgbClr val="2A5CE6"/>
          </a:solidFill>
          <a:ln w="9525">
            <a:solidFill>
              <a:srgbClr val="2A5C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0" y="367588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63056" y="1143000"/>
            <a:ext cx="2697480" cy="29260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27648" y="12618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6327648" y="167335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327648" y="20116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VECTORIELLE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6327648" y="2194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327648" y="25146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6327648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327648" y="3017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MVP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6327648" y="3200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" y="42976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GCP ?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2377440" y="427939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couvre embeddings + LLM en un seul service · Intégration native Hugging Face · Cloud Run gère le scaling automatiquement — idéal pour un MVP dont la charge est encore incertaine.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C"/>
          </a:solidFill>
          <a:ln w="12700">
            <a:solidFill>
              <a:srgbClr val="F5F6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ARCHITECTURE TECHNIQUE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4 couches du MVP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EF2FD"/>
          </a:solidFill>
          <a:ln w="9525">
            <a:solidFill>
              <a:srgbClr val="B8CC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80744"/>
            <a:ext cx="338328" cy="338328"/>
          </a:xfrm>
          <a:prstGeom prst="ellipse">
            <a:avLst/>
          </a:prstGeom>
          <a:solidFill>
            <a:srgbClr val="2A5CE6"/>
          </a:solidFill>
          <a:ln w="12700">
            <a:solidFill>
              <a:srgbClr val="2A5C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38074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5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utilisateur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572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(FastAPI) · Intégrable directement dans la plateforme Puls-Events existante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039112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8EFFE"/>
          </a:solidFill>
          <a:ln w="9525">
            <a:solidFill>
              <a:srgbClr val="A8BC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249424"/>
            <a:ext cx="338328" cy="338328"/>
          </a:xfrm>
          <a:prstGeom prst="ellipse">
            <a:avLst/>
          </a:prstGeom>
          <a:solidFill>
            <a:srgbClr val="1E4DB8"/>
          </a:solidFill>
          <a:ln w="12700">
            <a:solidFill>
              <a:srgbClr val="1E4D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24942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Moteur RAG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2441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text-embedding-gecko · ChromaDB (MVP) → Vertex AI Vector Search (prod) · Gemini 1.5 Pro · LangChain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907792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FDF0E8"/>
          </a:solidFill>
          <a:ln w="9525">
            <a:solidFill>
              <a:srgbClr val="F5C4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118104"/>
            <a:ext cx="338328" cy="338328"/>
          </a:xfrm>
          <a:prstGeom prst="ellipse">
            <a:avLst/>
          </a:prstGeom>
          <a:solidFill>
            <a:srgbClr val="E87825"/>
          </a:solidFill>
          <a:ln w="12700">
            <a:solidFill>
              <a:srgbClr val="E878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11810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complémentaires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: Firestore par session · Géoloc : filtre pré-requête · Recherche web : smolagents si données insuffisantes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776472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6F5EF"/>
          </a:solidFill>
          <a:ln w="9525">
            <a:solidFill>
              <a:srgbClr val="9FD4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986784"/>
            <a:ext cx="338328" cy="338328"/>
          </a:xfrm>
          <a:prstGeom prst="ellipse">
            <a:avLst/>
          </a:prstGeom>
          <a:solidFill>
            <a:srgbClr val="1A7A58"/>
          </a:solidFill>
          <a:ln w="12700">
            <a:solidFill>
              <a:srgbClr val="1A7A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398678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4178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: traçabilité appels LLM, latence, qualité · Métriques custom : satisfaction et pertinence des réponses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46817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: Utilisateur  →  API  →  [Géoloc + Mémoire]  →  RAG  →  [smolagents si besoin]  →  LLM  →  Réponse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C"/>
          </a:solidFill>
          <a:ln w="12700">
            <a:solidFill>
              <a:srgbClr val="F5F6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BACKLOG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Backlog — Priorisation MoSCoW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320040"/>
          </a:xfrm>
          <a:prstGeom prst="roundRect">
            <a:avLst>
              <a:gd name="adj" fmla="val 20000"/>
            </a:avLst>
          </a:prstGeom>
          <a:solidFill>
            <a:srgbClr val="1B2F6B"/>
          </a:solidFill>
          <a:ln w="9525">
            <a:solidFill>
              <a:srgbClr val="1B2F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6128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16128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161288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527048"/>
            <a:ext cx="1234440" cy="246888"/>
          </a:xfrm>
          <a:prstGeom prst="roundRect">
            <a:avLst>
              <a:gd name="adj" fmla="val 25926"/>
            </a:avLst>
          </a:prstGeom>
          <a:solidFill>
            <a:srgbClr val="FEECEC"/>
          </a:solidFill>
          <a:ln w="9525">
            <a:solidFill>
              <a:srgbClr val="FEEC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152704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54533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Core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56432" y="154533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 Open Agenda + recherche sémantique vectorielle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1847088"/>
            <a:ext cx="8229600" cy="365760"/>
          </a:xfrm>
          <a:prstGeom prst="roundRect">
            <a:avLst>
              <a:gd name="adj" fmla="val 17500"/>
            </a:avLst>
          </a:prstGeom>
          <a:solidFill>
            <a:srgbClr val="F5F6FC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1911096"/>
            <a:ext cx="1234440" cy="246888"/>
          </a:xfrm>
          <a:prstGeom prst="roundRect">
            <a:avLst>
              <a:gd name="adj" fmla="val 25926"/>
            </a:avLst>
          </a:prstGeom>
          <a:solidFill>
            <a:srgbClr val="FEECEC"/>
          </a:solidFill>
          <a:ln w="9525">
            <a:solidFill>
              <a:srgbClr val="FEEC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1911096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192938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Core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456432" y="192938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réponses via Gemini 1.5 Pro (orchestration LangChain)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231136"/>
            <a:ext cx="8229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2295144"/>
            <a:ext cx="1234440" cy="246888"/>
          </a:xfrm>
          <a:prstGeom prst="roundRect">
            <a:avLst>
              <a:gd name="adj" fmla="val 25926"/>
            </a:avLst>
          </a:prstGeom>
          <a:solidFill>
            <a:srgbClr val="FEECEC"/>
          </a:solidFill>
          <a:ln w="9525">
            <a:solidFill>
              <a:srgbClr val="FEEC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2295144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231343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456432" y="231343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 conversation par session utilisateur (Firestore)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615184"/>
            <a:ext cx="8229600" cy="365760"/>
          </a:xfrm>
          <a:prstGeom prst="roundRect">
            <a:avLst>
              <a:gd name="adj" fmla="val 17500"/>
            </a:avLst>
          </a:prstGeom>
          <a:solidFill>
            <a:srgbClr val="F5F6FC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2679192"/>
            <a:ext cx="1234440" cy="246888"/>
          </a:xfrm>
          <a:prstGeom prst="roundRect">
            <a:avLst>
              <a:gd name="adj" fmla="val 25926"/>
            </a:avLst>
          </a:prstGeom>
          <a:solidFill>
            <a:srgbClr val="FEECEC"/>
          </a:solidFill>
          <a:ln w="9525">
            <a:solidFill>
              <a:srgbClr val="FEEC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2679192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6974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456432" y="269748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des résultats selon la localisation de l'utilisateur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2999232"/>
            <a:ext cx="8229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3063240"/>
            <a:ext cx="1234440" cy="246888"/>
          </a:xfrm>
          <a:prstGeom prst="roundRect">
            <a:avLst>
              <a:gd name="adj" fmla="val 25926"/>
            </a:avLst>
          </a:prstGeom>
          <a:solidFill>
            <a:srgbClr val="FDF0E8"/>
          </a:solidFill>
          <a:ln w="9525">
            <a:solidFill>
              <a:srgbClr val="FDF0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3063240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308152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456432" y="308152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smolagents pour la recherche web en temps réel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383280"/>
            <a:ext cx="8229600" cy="365760"/>
          </a:xfrm>
          <a:prstGeom prst="roundRect">
            <a:avLst>
              <a:gd name="adj" fmla="val 17500"/>
            </a:avLst>
          </a:prstGeom>
          <a:solidFill>
            <a:srgbClr val="F5F6FC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3447288"/>
            <a:ext cx="1234440" cy="246888"/>
          </a:xfrm>
          <a:prstGeom prst="roundRect">
            <a:avLst>
              <a:gd name="adj" fmla="val 25926"/>
            </a:avLst>
          </a:prstGeom>
          <a:solidFill>
            <a:srgbClr val="FDF0E8"/>
          </a:solidFill>
          <a:ln w="9525">
            <a:solidFill>
              <a:srgbClr val="FDF0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344728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346557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3456432" y="346557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Langfuse + API documentée via Swagger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767328"/>
            <a:ext cx="8229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" y="3831336"/>
            <a:ext cx="1234440" cy="246888"/>
          </a:xfrm>
          <a:prstGeom prst="roundRect">
            <a:avLst>
              <a:gd name="adj" fmla="val 25926"/>
            </a:avLst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3831336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920240" y="384962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Perf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3456432" y="384962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chat intégrée · Score satisfaction · Multilingue (post-MVP)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C"/>
          </a:solidFill>
          <a:ln w="12700">
            <a:solidFill>
              <a:srgbClr val="F5F6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DU PROJET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Risques principaux &amp; indicateurs de succès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RISQUES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658368"/>
          </a:xfrm>
          <a:prstGeom prst="roundRect">
            <a:avLst>
              <a:gd name="adj" fmla="val 9722"/>
            </a:avLst>
          </a:prstGeom>
          <a:solidFill>
            <a:srgbClr val="FEECEC"/>
          </a:solidFill>
          <a:ln w="9525">
            <a:solidFill>
              <a:srgbClr val="D32F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5819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· Latence &gt; 3s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379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LRU + fallback Gemini 1.5 Flash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3931920" cy="658368"/>
          </a:xfrm>
          <a:prstGeom prst="roundRect">
            <a:avLst>
              <a:gd name="adj" fmla="val 9722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408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Qualité RAG faible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596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hebdo + ajustement prompt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026664"/>
            <a:ext cx="3931920" cy="658368"/>
          </a:xfrm>
          <a:prstGeom prst="roundRect">
            <a:avLst>
              <a:gd name="adj" fmla="val 9722"/>
            </a:avLst>
          </a:prstGeom>
          <a:solidFill>
            <a:srgbClr val="FEECEC"/>
          </a:solidFill>
          <a:ln w="9525">
            <a:solidFill>
              <a:srgbClr val="D32F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0998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· ChromaDB persistance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355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GCS FUSE + backup quotidien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785616"/>
            <a:ext cx="3931920" cy="658368"/>
          </a:xfrm>
          <a:prstGeom prst="roundRect">
            <a:avLst>
              <a:gd name="adj" fmla="val 9722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858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· Dépassement budget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 GCP + limite tokens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2344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SUCCÈS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508760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EEF2FD"/>
          </a:solidFill>
          <a:ln w="9525">
            <a:solidFill>
              <a:srgbClr val="B8CC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15819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Pertinence réponses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18379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&gt; 80%  ·  Eval. manuelle 50 req/sem.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267712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EEF2FD"/>
          </a:solidFill>
          <a:ln w="9525">
            <a:solidFill>
              <a:srgbClr val="B8CC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23408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moyenne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2596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&lt; 2s  ·  Langfuse (p50 et p95)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026664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EEF2FD"/>
          </a:solidFill>
          <a:ln w="9525">
            <a:solidFill>
              <a:srgbClr val="B8CC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3099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erreur LLM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3355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&lt; 5%  ·  Langfuse — traces erreur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785616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EEF2FD"/>
          </a:solidFill>
          <a:ln w="9525">
            <a:solidFill>
              <a:srgbClr val="B8CC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00600" y="3858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CSAT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4114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&gt; 3,5 / 5  ·  Widget feedback intégré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C"/>
          </a:solidFill>
          <a:ln w="12700">
            <a:solidFill>
              <a:srgbClr val="F5F6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ESTIMATION DES COÛTS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Build &amp; OPEX mensuel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3200400" cy="1600200"/>
          </a:xfrm>
          <a:prstGeom prst="roundRect">
            <a:avLst>
              <a:gd name="adj" fmla="val 4000"/>
            </a:avLst>
          </a:prstGeom>
          <a:solidFill>
            <a:srgbClr val="EEF2FD"/>
          </a:solidFill>
          <a:ln w="9525">
            <a:solidFill>
              <a:srgbClr val="B8CC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2801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5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~3 200 EUR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842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développement initial (Build)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768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alternant 3 mois + setup GCP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58768" y="1170432"/>
            <a:ext cx="3200400" cy="1600200"/>
          </a:xfrm>
          <a:prstGeom prst="roundRect">
            <a:avLst>
              <a:gd name="adj" fmla="val 4000"/>
            </a:avLst>
          </a:prstGeom>
          <a:solidFill>
            <a:srgbClr val="FDF0E8"/>
          </a:solidFill>
          <a:ln w="9525">
            <a:solidFill>
              <a:srgbClr val="F5C4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12801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~210 EUR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9842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mensuel estimé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2768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7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: 1 000 users x 50 req/mois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69480" y="1170432"/>
            <a:ext cx="1554480" cy="1600200"/>
          </a:xfrm>
          <a:prstGeom prst="roundRect">
            <a:avLst>
              <a:gd name="adj" fmla="val 4118"/>
            </a:avLst>
          </a:prstGeom>
          <a:solidFill>
            <a:srgbClr val="F5F6FC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88352" y="12984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~1700 EUR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88352" y="181051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x10 users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388352" y="207568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(~10 000 users)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OPEX mensuel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397764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3467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(Gemini 1.5 Pro)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334670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EUR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3977640" cy="320040"/>
          </a:xfrm>
          <a:prstGeom prst="roundRect">
            <a:avLst>
              <a:gd name="adj" fmla="val 20000"/>
            </a:avLst>
          </a:prstGeom>
          <a:solidFill>
            <a:srgbClr val="F5F6FC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712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×2 (API + ChromaDB)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7124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 EUR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397764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40782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(mémoire)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407822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EUR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291840"/>
            <a:ext cx="3977640" cy="320040"/>
          </a:xfrm>
          <a:prstGeom prst="roundRect">
            <a:avLst>
              <a:gd name="adj" fmla="val 20000"/>
            </a:avLst>
          </a:prstGeom>
          <a:solidFill>
            <a:srgbClr val="F5F6FC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33467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+ Logs/Storage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334670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EUR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397764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00600" y="3712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Embeddings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37124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EUR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4023360"/>
            <a:ext cx="3977640" cy="320040"/>
          </a:xfrm>
          <a:prstGeom prst="roundRect">
            <a:avLst>
              <a:gd name="adj" fmla="val 20000"/>
            </a:avLst>
          </a:prstGeom>
          <a:solidFill>
            <a:srgbClr val="F5F6FC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00600" y="40782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Smolagents / APIs externes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772400" y="407822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EUR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C"/>
          </a:solidFill>
          <a:ln w="12700">
            <a:solidFill>
              <a:srgbClr val="F5F6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PLAN DE PROJET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sur 12 semaines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423160" y="1170432"/>
            <a:ext cx="6400800" cy="228600"/>
          </a:xfrm>
          <a:prstGeom prst="roundRect">
            <a:avLst>
              <a:gd name="adj" fmla="val 28000"/>
            </a:avLst>
          </a:prstGeom>
          <a:solidFill>
            <a:srgbClr val="E0E2EC"/>
          </a:solidFill>
          <a:ln w="9525">
            <a:solidFill>
              <a:srgbClr val="E0E2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23160" y="1170432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956560" y="1170432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489960" y="1170432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170432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556760" y="1170432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090160" y="1170432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1170432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6156960" y="1170432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690360" y="1170432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1170432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57160" y="1170432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290560" y="1170432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146304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Cadrage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3160" y="1417320"/>
            <a:ext cx="1030224" cy="484632"/>
          </a:xfrm>
          <a:prstGeom prst="roundRect">
            <a:avLst>
              <a:gd name="adj" fmla="val 13208"/>
            </a:avLst>
          </a:prstGeom>
          <a:solidFill>
            <a:srgbClr val="EEF2FD"/>
          </a:solidFill>
          <a:ln w="9525">
            <a:solidFill>
              <a:srgbClr val="B8CC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96312" y="1527048"/>
            <a:ext cx="920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validée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199339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RAG Core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89960" y="1947672"/>
            <a:ext cx="1563624" cy="484632"/>
          </a:xfrm>
          <a:prstGeom prst="roundRect">
            <a:avLst>
              <a:gd name="adj" fmla="val 13208"/>
            </a:avLst>
          </a:prstGeom>
          <a:solidFill>
            <a:srgbClr val="E0E8FF"/>
          </a:solidFill>
          <a:ln w="9525">
            <a:solidFill>
              <a:srgbClr val="A8BC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63112" y="2057400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v1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523744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Enrichissement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90160" y="2478024"/>
            <a:ext cx="1563624" cy="484632"/>
          </a:xfrm>
          <a:prstGeom prst="roundRect">
            <a:avLst>
              <a:gd name="adj" fmla="val 13208"/>
            </a:avLst>
          </a:prstGeom>
          <a:solidFill>
            <a:srgbClr val="FDF0E8"/>
          </a:solidFill>
          <a:ln w="9525">
            <a:solidFill>
              <a:srgbClr val="F5C4A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63312" y="2587752"/>
            <a:ext cx="1453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7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v2 complet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054096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Monitoring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90360" y="3008376"/>
            <a:ext cx="1030224" cy="484632"/>
          </a:xfrm>
          <a:prstGeom prst="roundRect">
            <a:avLst>
              <a:gd name="adj" fmla="val 13208"/>
            </a:avLst>
          </a:prstGeom>
          <a:solidFill>
            <a:srgbClr val="E6F5EF"/>
          </a:solidFill>
          <a:ln w="9525">
            <a:solidFill>
              <a:srgbClr val="9FD4B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3512" y="3118104"/>
            <a:ext cx="920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actif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584448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57160" y="3538728"/>
            <a:ext cx="496824" cy="484632"/>
          </a:xfrm>
          <a:prstGeom prst="roundRect">
            <a:avLst>
              <a:gd name="adj" fmla="val 13208"/>
            </a:avLst>
          </a:prstGeom>
          <a:solidFill>
            <a:srgbClr val="FEF3C7"/>
          </a:solidFill>
          <a:ln w="9525">
            <a:solidFill>
              <a:srgbClr val="F0D08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411480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Livraison MVP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90560" y="4069080"/>
            <a:ext cx="496824" cy="484632"/>
          </a:xfrm>
          <a:prstGeom prst="roundRect">
            <a:avLst>
              <a:gd name="adj" fmla="val 13208"/>
            </a:avLst>
          </a:prstGeom>
          <a:solidFill>
            <a:srgbClr val="FEECEC"/>
          </a:solidFill>
          <a:ln w="9525">
            <a:solidFill>
              <a:srgbClr val="FBBAB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61944" y="1152144"/>
            <a:ext cx="256032" cy="256032"/>
          </a:xfrm>
          <a:prstGeom prst="ellipse">
            <a:avLst/>
          </a:prstGeom>
          <a:solidFill>
            <a:srgbClr val="1B2F6B"/>
          </a:solidFill>
          <a:ln w="12700">
            <a:solidFill>
              <a:srgbClr val="1B2F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62144" y="1152144"/>
            <a:ext cx="256032" cy="256032"/>
          </a:xfrm>
          <a:prstGeom prst="ellipse">
            <a:avLst/>
          </a:prstGeom>
          <a:solidFill>
            <a:srgbClr val="1B2F6B"/>
          </a:solidFill>
          <a:ln w="12700">
            <a:solidFill>
              <a:srgbClr val="1B2F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62344" y="1152144"/>
            <a:ext cx="256032" cy="256032"/>
          </a:xfrm>
          <a:prstGeom prst="ellipse">
            <a:avLst/>
          </a:prstGeom>
          <a:solidFill>
            <a:srgbClr val="1B2F6B"/>
          </a:solidFill>
          <a:ln w="12700">
            <a:solidFill>
              <a:srgbClr val="1B2F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95944" y="1152144"/>
            <a:ext cx="256032" cy="256032"/>
          </a:xfrm>
          <a:prstGeom prst="ellipse">
            <a:avLst/>
          </a:prstGeom>
          <a:solidFill>
            <a:srgbClr val="1B2F6B"/>
          </a:solidFill>
          <a:ln w="12700">
            <a:solidFill>
              <a:srgbClr val="1B2F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23160" y="468172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D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Archi validée  ·  J2 Demo RAG Core  ·  J3 Demo MVP complet  ·  J4 Livraison production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84048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583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proposition de MVP prête à être mise en œuvre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581912"/>
            <a:ext cx="164592" cy="164592"/>
          </a:xfrm>
          <a:prstGeom prst="ellipse">
            <a:avLst/>
          </a:prstGeom>
          <a:solidFill>
            <a:srgbClr val="2A5CE6"/>
          </a:solidFill>
          <a:ln w="12700">
            <a:solidFill>
              <a:srgbClr val="2A5C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508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783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· Vertex AI · LangChain · ChromaDB · smolagents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221992"/>
            <a:ext cx="164592" cy="164592"/>
          </a:xfrm>
          <a:prstGeom prst="ellipse">
            <a:avLst/>
          </a:prstGeom>
          <a:solidFill>
            <a:srgbClr val="2A5CE6"/>
          </a:solidFill>
          <a:ln w="12700">
            <a:solidFill>
              <a:srgbClr val="2A5C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2148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fonctionnalités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4231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· Géolocalisation · Recherche web · Monitoring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62072"/>
            <a:ext cx="164592" cy="164592"/>
          </a:xfrm>
          <a:prstGeom prst="ellipse">
            <a:avLst/>
          </a:prstGeom>
          <a:solidFill>
            <a:srgbClr val="2A5CE6"/>
          </a:solidFill>
          <a:ln w="12700">
            <a:solidFill>
              <a:srgbClr val="2A5C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788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maîtrisé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3063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~3 200 EUR  ·  OPEX ~210 EUR/mois (1 000 users)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502152"/>
            <a:ext cx="164592" cy="164592"/>
          </a:xfrm>
          <a:prstGeom prst="ellipse">
            <a:avLst/>
          </a:prstGeom>
          <a:solidFill>
            <a:srgbClr val="2A5CE6"/>
          </a:solidFill>
          <a:ln w="12700">
            <a:solidFill>
              <a:srgbClr val="2A5C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3429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clair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3703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semaines · 4 jalons de validation · Livraison S12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4480560"/>
            <a:ext cx="7772400" cy="411480"/>
          </a:xfrm>
          <a:prstGeom prst="roundRect">
            <a:avLst>
              <a:gd name="adj" fmla="val 15556"/>
            </a:avLst>
          </a:prstGeom>
          <a:solidFill>
            <a:srgbClr val="162454"/>
          </a:solidFill>
          <a:ln w="9525">
            <a:solidFill>
              <a:srgbClr val="16245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56285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A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GitHub :</a:t>
            </a:r>
            <a:endParaRPr lang="en-US" sz="1000" dirty="0"/>
          </a:p>
        </p:txBody>
      </p:sp>
      <p:sp>
        <p:nvSpPr>
          <p:cNvPr id="19" name="Text 17">
            <a:hlinkClick r:id="rId1" tooltip=""/>
          </p:cNvPr>
          <p:cNvSpPr txBox="1"/>
          <p:nvPr/>
        </p:nvSpPr>
        <p:spPr>
          <a:xfrm>
            <a:off x="2834640" y="456285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B82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github.com/dorrazch-hue/dorra-portfolio-data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2026-09-22T07:51:23Z</dcterms:created>
  <dcterms:modified xsi:type="dcterms:W3CDTF">2026-09-22T07:51:23Z</dcterms:modified>
</cp:coreProperties>
</file>